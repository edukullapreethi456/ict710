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67" r:id="rId3"/>
    <p:sldId id="268" r:id="rId4"/>
    <p:sldId id="269" r:id="rId5"/>
    <p:sldId id="257" r:id="rId6"/>
    <p:sldId id="258" r:id="rId7"/>
    <p:sldId id="261" r:id="rId8"/>
    <p:sldId id="262" r:id="rId9"/>
    <p:sldId id="263" r:id="rId10"/>
    <p:sldId id="264" r:id="rId11"/>
    <p:sldId id="259" r:id="rId12"/>
    <p:sldId id="26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7231" autoAdjust="0"/>
  </p:normalViewPr>
  <p:slideViewPr>
    <p:cSldViewPr snapToGrid="0">
      <p:cViewPr varScale="1">
        <p:scale>
          <a:sx n="51" d="100"/>
          <a:sy n="51" d="100"/>
        </p:scale>
        <p:origin x="10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8083F-80C4-4CC4-86FF-04D4690FF1F1}" type="datetimeFigureOut">
              <a:rPr lang="en-IN" smtClean="0"/>
              <a:t>26-05-2026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EA9E0-9400-4356-B07E-AFFA91058E85}" type="slidenum">
              <a:rPr lang="en-IN" smtClean="0"/>
              <a:t>‹#›</a:t>
            </a:fld>
            <a:endParaRPr lang="en-IN"/>
          </a:p>
        </p:txBody>
      </p:sp>
    </p:spTree>
    <p:extLst>
      <p:ext uri="{BB962C8B-B14F-4D97-AF65-F5344CB8AC3E}">
        <p14:creationId xmlns:p14="http://schemas.microsoft.com/office/powerpoint/2010/main" val="124321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development of this online trading application  is based on designing a mobile application for trading stocks and cryptocurrencies. The application has a variety of important functions, including asset purchasing and selling, bank transfers, auto trading and chatbot support. The design was created based on users' needs and usability testing. The primary objective is to provide a user-friendly, secure and simple trading experience.</a:t>
            </a:r>
            <a:endParaRPr lang="en-IN" dirty="0"/>
          </a:p>
        </p:txBody>
      </p:sp>
      <p:sp>
        <p:nvSpPr>
          <p:cNvPr id="4" name="Slide Number Placeholder 3"/>
          <p:cNvSpPr>
            <a:spLocks noGrp="1"/>
          </p:cNvSpPr>
          <p:nvPr>
            <p:ph type="sldNum" sz="quarter" idx="5"/>
          </p:nvPr>
        </p:nvSpPr>
        <p:spPr/>
        <p:txBody>
          <a:bodyPr/>
          <a:lstStyle/>
          <a:p>
            <a:fld id="{61F20DAE-6E70-4233-AF17-A5C86BC3AF87}" type="slidenum">
              <a:rPr lang="en-IN" smtClean="0"/>
              <a:t>2</a:t>
            </a:fld>
            <a:endParaRPr lang="en-IN"/>
          </a:p>
        </p:txBody>
      </p:sp>
    </p:spTree>
    <p:extLst>
      <p:ext uri="{BB962C8B-B14F-4D97-AF65-F5344CB8AC3E}">
        <p14:creationId xmlns:p14="http://schemas.microsoft.com/office/powerpoint/2010/main" val="1878372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above slide discuss about the design process and it started by analyzing user feedback collected from surveys and usability testing. The team also mapped common usability issues and users' expectations before designing the interface. Wireframes were then created to structure the application and the flow of screens. Navigation, accessibility and visibility of key functions was a special consideration, enhancing overall user experience.</a:t>
            </a:r>
            <a:endParaRPr lang="en-IN" dirty="0"/>
          </a:p>
        </p:txBody>
      </p:sp>
      <p:sp>
        <p:nvSpPr>
          <p:cNvPr id="4" name="Slide Number Placeholder 3"/>
          <p:cNvSpPr>
            <a:spLocks noGrp="1"/>
          </p:cNvSpPr>
          <p:nvPr>
            <p:ph type="sldNum" sz="quarter" idx="5"/>
          </p:nvPr>
        </p:nvSpPr>
        <p:spPr/>
        <p:txBody>
          <a:bodyPr/>
          <a:lstStyle/>
          <a:p>
            <a:fld id="{61F20DAE-6E70-4233-AF17-A5C86BC3AF87}" type="slidenum">
              <a:rPr lang="en-IN" smtClean="0"/>
              <a:t>3</a:t>
            </a:fld>
            <a:endParaRPr lang="en-IN"/>
          </a:p>
        </p:txBody>
      </p:sp>
    </p:spTree>
    <p:extLst>
      <p:ext uri="{BB962C8B-B14F-4D97-AF65-F5344CB8AC3E}">
        <p14:creationId xmlns:p14="http://schemas.microsoft.com/office/powerpoint/2010/main" val="314619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prototype was designed using Figma to design realistic mobile screens of the application. The interface was designed to be easy to understand with a clean layout, readable text and clear icons. Test users and group members offered suggestions for improvements based on their feedback. Various improvements have been made such as improved navigation visibility and improved feature organisation across screens.</a:t>
            </a:r>
            <a:endParaRPr lang="en-IN" dirty="0"/>
          </a:p>
        </p:txBody>
      </p:sp>
      <p:sp>
        <p:nvSpPr>
          <p:cNvPr id="4" name="Slide Number Placeholder 3"/>
          <p:cNvSpPr>
            <a:spLocks noGrp="1"/>
          </p:cNvSpPr>
          <p:nvPr>
            <p:ph type="sldNum" sz="quarter" idx="5"/>
          </p:nvPr>
        </p:nvSpPr>
        <p:spPr/>
        <p:txBody>
          <a:bodyPr/>
          <a:lstStyle/>
          <a:p>
            <a:fld id="{61F20DAE-6E70-4233-AF17-A5C86BC3AF87}" type="slidenum">
              <a:rPr lang="en-IN" smtClean="0"/>
              <a:t>4</a:t>
            </a:fld>
            <a:endParaRPr lang="en-IN"/>
          </a:p>
        </p:txBody>
      </p:sp>
    </p:spTree>
    <p:extLst>
      <p:ext uri="{BB962C8B-B14F-4D97-AF65-F5344CB8AC3E}">
        <p14:creationId xmlns:p14="http://schemas.microsoft.com/office/powerpoint/2010/main" val="1280142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project covers that the smart trading app with simple, navigate, structure, and visual were employ to enhance the usability, decrease confusion, and assist users in completing trade task quick and effective. </a:t>
            </a:r>
            <a:endParaRPr lang="en-IN" dirty="0"/>
          </a:p>
        </p:txBody>
      </p:sp>
      <p:sp>
        <p:nvSpPr>
          <p:cNvPr id="4" name="Slide Number Placeholder 3"/>
          <p:cNvSpPr>
            <a:spLocks noGrp="1"/>
          </p:cNvSpPr>
          <p:nvPr>
            <p:ph type="sldNum" sz="quarter" idx="5"/>
          </p:nvPr>
        </p:nvSpPr>
        <p:spPr/>
        <p:txBody>
          <a:bodyPr/>
          <a:lstStyle/>
          <a:p>
            <a:fld id="{8F7EA9E0-9400-4356-B07E-AFFA91058E85}" type="slidenum">
              <a:rPr lang="en-IN" smtClean="0"/>
              <a:t>5</a:t>
            </a:fld>
            <a:endParaRPr lang="en-IN"/>
          </a:p>
        </p:txBody>
      </p:sp>
    </p:spTree>
    <p:extLst>
      <p:ext uri="{BB962C8B-B14F-4D97-AF65-F5344CB8AC3E}">
        <p14:creationId xmlns:p14="http://schemas.microsoft.com/office/powerpoint/2010/main" val="4275294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demonstrates that security, chatbot help, and auto trading capabilities enable both novice and expert users to make financial decisions easier to enhancing the user trust, accessibility, and trading efficiency. </a:t>
            </a:r>
            <a:endParaRPr lang="en-IN" dirty="0"/>
          </a:p>
        </p:txBody>
      </p:sp>
      <p:sp>
        <p:nvSpPr>
          <p:cNvPr id="4" name="Slide Number Placeholder 3"/>
          <p:cNvSpPr>
            <a:spLocks noGrp="1"/>
          </p:cNvSpPr>
          <p:nvPr>
            <p:ph type="sldNum" sz="quarter" idx="5"/>
          </p:nvPr>
        </p:nvSpPr>
        <p:spPr/>
        <p:txBody>
          <a:bodyPr/>
          <a:lstStyle/>
          <a:p>
            <a:fld id="{8F7EA9E0-9400-4356-B07E-AFFA91058E85}" type="slidenum">
              <a:rPr lang="en-IN" smtClean="0"/>
              <a:t>6</a:t>
            </a:fld>
            <a:endParaRPr lang="en-IN"/>
          </a:p>
        </p:txBody>
      </p:sp>
    </p:spTree>
    <p:extLst>
      <p:ext uri="{BB962C8B-B14F-4D97-AF65-F5344CB8AC3E}">
        <p14:creationId xmlns:p14="http://schemas.microsoft.com/office/powerpoint/2010/main" val="3136388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slide used to give the information regarding the user interface design. </a:t>
            </a:r>
            <a:r>
              <a:rPr lang="en-US" sz="1200" kern="1200" dirty="0">
                <a:solidFill>
                  <a:schemeClr val="tx1"/>
                </a:solidFill>
                <a:effectLst/>
                <a:latin typeface="+mn-lt"/>
                <a:ea typeface="+mn-ea"/>
                <a:cs typeface="+mn-cs"/>
              </a:rPr>
              <a:t>Trading mobile app user design interface is designed with a user-friendly and modern layout which used to support a smooth navigation, accessibility and visual clarity. Welcome screen introduces TradeCore application with a modern interface and it directs users towards accessing the application using the registration. </a:t>
            </a:r>
          </a:p>
        </p:txBody>
      </p:sp>
      <p:sp>
        <p:nvSpPr>
          <p:cNvPr id="4" name="Slide Number Placeholder 3"/>
          <p:cNvSpPr>
            <a:spLocks noGrp="1"/>
          </p:cNvSpPr>
          <p:nvPr>
            <p:ph type="sldNum" sz="quarter" idx="5"/>
          </p:nvPr>
        </p:nvSpPr>
        <p:spPr/>
        <p:txBody>
          <a:bodyPr/>
          <a:lstStyle/>
          <a:p>
            <a:fld id="{8F7EA9E0-9400-4356-B07E-AFFA91058E85}" type="slidenum">
              <a:rPr lang="en-IN" smtClean="0"/>
              <a:t>7</a:t>
            </a:fld>
            <a:endParaRPr lang="en-IN"/>
          </a:p>
        </p:txBody>
      </p:sp>
    </p:spTree>
    <p:extLst>
      <p:ext uri="{BB962C8B-B14F-4D97-AF65-F5344CB8AC3E}">
        <p14:creationId xmlns:p14="http://schemas.microsoft.com/office/powerpoint/2010/main" val="598915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slide used to give the information regarding the user interface design. </a:t>
            </a:r>
            <a:r>
              <a:rPr lang="en-US" sz="1200" kern="1200" dirty="0">
                <a:solidFill>
                  <a:schemeClr val="tx1"/>
                </a:solidFill>
                <a:effectLst/>
                <a:latin typeface="+mn-lt"/>
                <a:ea typeface="+mn-ea"/>
                <a:cs typeface="+mn-cs"/>
              </a:rPr>
              <a:t>An organized sections, consistent colors, interactive components and intuitive buttons were implemented to improve usability, enhance experiences of the users and simplify trading operations. The users are enabled in the preferences screen to customize investment amounts, trading frequency, preferred assets and notification settings for the automated features. </a:t>
            </a:r>
          </a:p>
          <a:p>
            <a:pPr algn="just"/>
            <a:endParaRPr lang="en-US" dirty="0"/>
          </a:p>
        </p:txBody>
      </p:sp>
      <p:sp>
        <p:nvSpPr>
          <p:cNvPr id="4" name="Slide Number Placeholder 3"/>
          <p:cNvSpPr>
            <a:spLocks noGrp="1"/>
          </p:cNvSpPr>
          <p:nvPr>
            <p:ph type="sldNum" sz="quarter" idx="5"/>
          </p:nvPr>
        </p:nvSpPr>
        <p:spPr/>
        <p:txBody>
          <a:bodyPr/>
          <a:lstStyle/>
          <a:p>
            <a:fld id="{8F7EA9E0-9400-4356-B07E-AFFA91058E85}" type="slidenum">
              <a:rPr lang="en-IN" smtClean="0"/>
              <a:t>8</a:t>
            </a:fld>
            <a:endParaRPr lang="en-IN"/>
          </a:p>
        </p:txBody>
      </p:sp>
    </p:spTree>
    <p:extLst>
      <p:ext uri="{BB962C8B-B14F-4D97-AF65-F5344CB8AC3E}">
        <p14:creationId xmlns:p14="http://schemas.microsoft.com/office/powerpoint/2010/main" val="609616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Usability evaluation for the Trading mobile Application is conducted using rigorous usability testing which is involved with many user tasks and survey-based feedback collection. Evaluation of participants are in navigation, responsiveness, interface clarity, and feature accessibility. </a:t>
            </a:r>
            <a:endParaRPr lang="en-US" dirty="0"/>
          </a:p>
        </p:txBody>
      </p:sp>
      <p:sp>
        <p:nvSpPr>
          <p:cNvPr id="4" name="Slide Number Placeholder 3"/>
          <p:cNvSpPr>
            <a:spLocks noGrp="1"/>
          </p:cNvSpPr>
          <p:nvPr>
            <p:ph type="sldNum" sz="quarter" idx="5"/>
          </p:nvPr>
        </p:nvSpPr>
        <p:spPr/>
        <p:txBody>
          <a:bodyPr/>
          <a:lstStyle/>
          <a:p>
            <a:fld id="{8F7EA9E0-9400-4356-B07E-AFFA91058E85}" type="slidenum">
              <a:rPr lang="en-IN" smtClean="0"/>
              <a:t>9</a:t>
            </a:fld>
            <a:endParaRPr lang="en-IN"/>
          </a:p>
        </p:txBody>
      </p:sp>
    </p:spTree>
    <p:extLst>
      <p:ext uri="{BB962C8B-B14F-4D97-AF65-F5344CB8AC3E}">
        <p14:creationId xmlns:p14="http://schemas.microsoft.com/office/powerpoint/2010/main" val="1172758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analysis helps in identifying strength like organized layouts, simple navigation and efficient task completion. The minor usability concerns are included with an improved transaction feedback and enhancement of chatbot responses.    </a:t>
            </a:r>
          </a:p>
          <a:p>
            <a:endParaRPr lang="en-US" dirty="0"/>
          </a:p>
        </p:txBody>
      </p:sp>
      <p:sp>
        <p:nvSpPr>
          <p:cNvPr id="4" name="Slide Number Placeholder 3"/>
          <p:cNvSpPr>
            <a:spLocks noGrp="1"/>
          </p:cNvSpPr>
          <p:nvPr>
            <p:ph type="sldNum" sz="quarter" idx="5"/>
          </p:nvPr>
        </p:nvSpPr>
        <p:spPr/>
        <p:txBody>
          <a:bodyPr/>
          <a:lstStyle/>
          <a:p>
            <a:fld id="{8F7EA9E0-9400-4356-B07E-AFFA91058E85}" type="slidenum">
              <a:rPr lang="en-IN" smtClean="0"/>
              <a:t>10</a:t>
            </a:fld>
            <a:endParaRPr lang="en-IN"/>
          </a:p>
        </p:txBody>
      </p:sp>
    </p:spTree>
    <p:extLst>
      <p:ext uri="{BB962C8B-B14F-4D97-AF65-F5344CB8AC3E}">
        <p14:creationId xmlns:p14="http://schemas.microsoft.com/office/powerpoint/2010/main" val="17256030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enhanced navigation, security, and usability of the smart trading app. All users have effective, safe, and user-friendly trading experience depends on user-</a:t>
            </a:r>
            <a:r>
              <a:rPr lang="en-US" dirty="0" err="1"/>
              <a:t>centred</a:t>
            </a:r>
            <a:r>
              <a:rPr lang="en-US" dirty="0"/>
              <a:t> design and usability testing. </a:t>
            </a:r>
            <a:endParaRPr lang="en-IN" dirty="0"/>
          </a:p>
        </p:txBody>
      </p:sp>
      <p:sp>
        <p:nvSpPr>
          <p:cNvPr id="4" name="Slide Number Placeholder 3"/>
          <p:cNvSpPr>
            <a:spLocks noGrp="1"/>
          </p:cNvSpPr>
          <p:nvPr>
            <p:ph type="sldNum" sz="quarter" idx="5"/>
          </p:nvPr>
        </p:nvSpPr>
        <p:spPr/>
        <p:txBody>
          <a:bodyPr/>
          <a:lstStyle/>
          <a:p>
            <a:fld id="{8F7EA9E0-9400-4356-B07E-AFFA91058E85}" type="slidenum">
              <a:rPr lang="en-IN" smtClean="0"/>
              <a:t>11</a:t>
            </a:fld>
            <a:endParaRPr lang="en-IN"/>
          </a:p>
        </p:txBody>
      </p:sp>
    </p:spTree>
    <p:extLst>
      <p:ext uri="{BB962C8B-B14F-4D97-AF65-F5344CB8AC3E}">
        <p14:creationId xmlns:p14="http://schemas.microsoft.com/office/powerpoint/2010/main" val="123864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7EA9E0-9400-4356-B07E-AFFA91058E85}" type="slidenum">
              <a:rPr lang="en-IN" smtClean="0"/>
              <a:t>12</a:t>
            </a:fld>
            <a:endParaRPr lang="en-IN"/>
          </a:p>
        </p:txBody>
      </p:sp>
    </p:spTree>
    <p:extLst>
      <p:ext uri="{BB962C8B-B14F-4D97-AF65-F5344CB8AC3E}">
        <p14:creationId xmlns:p14="http://schemas.microsoft.com/office/powerpoint/2010/main" val="1556647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196CD4-5CBE-4431-AECD-7547C4C61867}"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1968886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196CD4-5CBE-4431-AECD-7547C4C61867}"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4100192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196CD4-5CBE-4431-AECD-7547C4C61867}"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2015719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196CD4-5CBE-4431-AECD-7547C4C61867}"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1427527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196CD4-5CBE-4431-AECD-7547C4C61867}" type="datetimeFigureOut">
              <a:rPr lang="en-IN" smtClean="0"/>
              <a:t>26-05-2026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3880952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196CD4-5CBE-4431-AECD-7547C4C61867}" type="datetimeFigureOut">
              <a:rPr lang="en-IN" smtClean="0"/>
              <a:t>26-05-2026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1965297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196CD4-5CBE-4431-AECD-7547C4C61867}" type="datetimeFigureOut">
              <a:rPr lang="en-IN" smtClean="0"/>
              <a:t>26-05-2026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335941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96CD4-5CBE-4431-AECD-7547C4C61867}"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3972650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96CD4-5CBE-4431-AECD-7547C4C61867}"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1868179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96CD4-5CBE-4431-AECD-7547C4C61867}"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3183497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96CD4-5CBE-4431-AECD-7547C4C61867}"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366337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96CD4-5CBE-4431-AECD-7547C4C61867}"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97095A-3856-4738-968F-76BF22A8A0D6}"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97483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96CD4-5CBE-4431-AECD-7547C4C61867}" type="datetimeFigureOut">
              <a:rPr lang="en-IN" smtClean="0"/>
              <a:t>26-05-2026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701064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1196CD4-5CBE-4431-AECD-7547C4C61867}" type="datetimeFigureOut">
              <a:rPr lang="en-IN" smtClean="0"/>
              <a:t>26-05-2026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3547426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1196CD4-5CBE-4431-AECD-7547C4C61867}" type="datetimeFigureOut">
              <a:rPr lang="en-IN" smtClean="0"/>
              <a:t>26-05-2026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12471609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196CD4-5CBE-4431-AECD-7547C4C61867}"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1288085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196CD4-5CBE-4431-AECD-7547C4C61867}" type="datetimeFigureOut">
              <a:rPr lang="en-IN" smtClean="0"/>
              <a:t>26-05-2026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97095A-3856-4738-968F-76BF22A8A0D6}" type="slidenum">
              <a:rPr lang="en-IN" smtClean="0"/>
              <a:t>‹#›</a:t>
            </a:fld>
            <a:endParaRPr lang="en-IN"/>
          </a:p>
        </p:txBody>
      </p:sp>
    </p:spTree>
    <p:extLst>
      <p:ext uri="{BB962C8B-B14F-4D97-AF65-F5344CB8AC3E}">
        <p14:creationId xmlns:p14="http://schemas.microsoft.com/office/powerpoint/2010/main" val="430083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1196CD4-5CBE-4431-AECD-7547C4C61867}" type="datetimeFigureOut">
              <a:rPr lang="en-IN" smtClean="0"/>
              <a:t>26-05-2026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897095A-3856-4738-968F-76BF22A8A0D6}" type="slidenum">
              <a:rPr lang="en-IN" smtClean="0"/>
              <a:t>‹#›</a:t>
            </a:fld>
            <a:endParaRPr lang="en-IN"/>
          </a:p>
        </p:txBody>
      </p:sp>
    </p:spTree>
    <p:extLst>
      <p:ext uri="{BB962C8B-B14F-4D97-AF65-F5344CB8AC3E}">
        <p14:creationId xmlns:p14="http://schemas.microsoft.com/office/powerpoint/2010/main" val="8591474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C1F58-D38B-C9CC-C595-1411C76BB464}"/>
              </a:ext>
            </a:extLst>
          </p:cNvPr>
          <p:cNvSpPr>
            <a:spLocks noGrp="1"/>
          </p:cNvSpPr>
          <p:nvPr>
            <p:ph type="ctrTitle"/>
          </p:nvPr>
        </p:nvSpPr>
        <p:spPr>
          <a:xfrm>
            <a:off x="1595269" y="363255"/>
            <a:ext cx="9001462" cy="1655762"/>
          </a:xfrm>
        </p:spPr>
        <p:txBody>
          <a:bodyPr/>
          <a:lstStyle/>
          <a:p>
            <a:r>
              <a:rPr lang="en-US" b="1" dirty="0"/>
              <a:t>ICT710 – Interaction Design and Usability</a:t>
            </a:r>
            <a:endParaRPr lang="en-IN" b="1" dirty="0"/>
          </a:p>
        </p:txBody>
      </p:sp>
      <p:sp>
        <p:nvSpPr>
          <p:cNvPr id="3" name="Subtitle 2">
            <a:extLst>
              <a:ext uri="{FF2B5EF4-FFF2-40B4-BE49-F238E27FC236}">
                <a16:creationId xmlns:a16="http://schemas.microsoft.com/office/drawing/2014/main" id="{90493781-8576-3435-AB5B-5E27DC119377}"/>
              </a:ext>
            </a:extLst>
          </p:cNvPr>
          <p:cNvSpPr>
            <a:spLocks noGrp="1"/>
          </p:cNvSpPr>
          <p:nvPr>
            <p:ph type="subTitle" idx="1"/>
          </p:nvPr>
        </p:nvSpPr>
        <p:spPr>
          <a:xfrm>
            <a:off x="1595269" y="2630466"/>
            <a:ext cx="9001462" cy="3757808"/>
          </a:xfrm>
        </p:spPr>
        <p:txBody>
          <a:bodyPr>
            <a:normAutofit fontScale="92500" lnSpcReduction="20000"/>
          </a:bodyPr>
          <a:lstStyle/>
          <a:p>
            <a:r>
              <a:rPr lang="en-IN" b="1" dirty="0"/>
              <a:t>Assignment 3</a:t>
            </a:r>
          </a:p>
          <a:p>
            <a:r>
              <a:rPr lang="en-IN" b="1" dirty="0"/>
              <a:t>PART B</a:t>
            </a:r>
          </a:p>
          <a:p>
            <a:r>
              <a:rPr lang="en-IN" b="1" dirty="0">
                <a:latin typeface="Times New Roman" panose="02020603050405020304" pitchFamily="18" charset="0"/>
                <a:cs typeface="Times New Roman" panose="02020603050405020304" pitchFamily="18" charset="0"/>
              </a:rPr>
              <a:t>Presented By:</a:t>
            </a:r>
          </a:p>
          <a:p>
            <a:r>
              <a:rPr lang="en-IN" dirty="0">
                <a:effectLst/>
                <a:latin typeface="Times New Roman" panose="02020603050405020304" pitchFamily="18" charset="0"/>
                <a:cs typeface="Times New Roman" panose="02020603050405020304" pitchFamily="18" charset="0"/>
              </a:rPr>
              <a:t> Preethi </a:t>
            </a:r>
            <a:r>
              <a:rPr lang="en-IN" dirty="0" err="1">
                <a:effectLst/>
                <a:latin typeface="Times New Roman" panose="02020603050405020304" pitchFamily="18" charset="0"/>
                <a:cs typeface="Times New Roman" panose="02020603050405020304" pitchFamily="18" charset="0"/>
              </a:rPr>
              <a:t>Edukulla</a:t>
            </a:r>
            <a:r>
              <a:rPr lang="en-IN" dirty="0">
                <a:effectLst/>
                <a:latin typeface="Times New Roman" panose="02020603050405020304" pitchFamily="18" charset="0"/>
                <a:cs typeface="Times New Roman" panose="02020603050405020304" pitchFamily="18" charset="0"/>
              </a:rPr>
              <a:t> (66993)</a:t>
            </a:r>
          </a:p>
          <a:p>
            <a:r>
              <a:rPr lang="en-IN" dirty="0">
                <a:effectLst/>
                <a:latin typeface="Times New Roman" panose="02020603050405020304" pitchFamily="18" charset="0"/>
                <a:cs typeface="Times New Roman" panose="02020603050405020304" pitchFamily="18" charset="0"/>
              </a:rPr>
              <a:t>Saikiran </a:t>
            </a:r>
            <a:r>
              <a:rPr lang="en-IN" dirty="0" err="1">
                <a:effectLst/>
                <a:latin typeface="Times New Roman" panose="02020603050405020304" pitchFamily="18" charset="0"/>
                <a:cs typeface="Times New Roman" panose="02020603050405020304" pitchFamily="18" charset="0"/>
              </a:rPr>
              <a:t>Bitla</a:t>
            </a:r>
            <a:r>
              <a:rPr lang="en-IN" dirty="0">
                <a:effectLst/>
                <a:latin typeface="Times New Roman" panose="02020603050405020304" pitchFamily="18" charset="0"/>
                <a:cs typeface="Times New Roman" panose="02020603050405020304" pitchFamily="18" charset="0"/>
              </a:rPr>
              <a:t> (66158)</a:t>
            </a:r>
          </a:p>
          <a:p>
            <a:r>
              <a:rPr lang="en-IN" dirty="0">
                <a:effectLst/>
                <a:latin typeface="Times New Roman" panose="02020603050405020304" pitchFamily="18" charset="0"/>
                <a:cs typeface="Times New Roman" panose="02020603050405020304" pitchFamily="18" charset="0"/>
              </a:rPr>
              <a:t>Varshini Koyyalamudi (65079)</a:t>
            </a:r>
          </a:p>
          <a:p>
            <a:r>
              <a:rPr lang="en-IN" dirty="0" err="1">
                <a:effectLst/>
                <a:latin typeface="Times New Roman" panose="02020603050405020304" pitchFamily="18" charset="0"/>
                <a:cs typeface="Times New Roman" panose="02020603050405020304" pitchFamily="18" charset="0"/>
              </a:rPr>
              <a:t>Rasagna</a:t>
            </a:r>
            <a:r>
              <a:rPr lang="en-IN" dirty="0">
                <a:effectLst/>
                <a:latin typeface="Times New Roman" panose="02020603050405020304" pitchFamily="18" charset="0"/>
                <a:cs typeface="Times New Roman" panose="02020603050405020304" pitchFamily="18" charset="0"/>
              </a:rPr>
              <a:t> </a:t>
            </a:r>
            <a:r>
              <a:rPr lang="en-IN" dirty="0" err="1">
                <a:effectLst/>
                <a:latin typeface="Times New Roman" panose="02020603050405020304" pitchFamily="18" charset="0"/>
                <a:cs typeface="Times New Roman" panose="02020603050405020304" pitchFamily="18" charset="0"/>
              </a:rPr>
              <a:t>Karingula</a:t>
            </a:r>
            <a:r>
              <a:rPr lang="en-IN" dirty="0">
                <a:effectLst/>
                <a:latin typeface="Times New Roman" panose="02020603050405020304" pitchFamily="18" charset="0"/>
                <a:cs typeface="Times New Roman" panose="02020603050405020304" pitchFamily="18" charset="0"/>
              </a:rPr>
              <a:t> (65411)</a:t>
            </a:r>
          </a:p>
          <a:p>
            <a:r>
              <a:rPr lang="en-IN" dirty="0">
                <a:effectLst/>
                <a:latin typeface="Times New Roman" panose="02020603050405020304" pitchFamily="18" charset="0"/>
                <a:cs typeface="Times New Roman" panose="02020603050405020304" pitchFamily="18" charset="0"/>
              </a:rPr>
              <a:t>Ravichandra </a:t>
            </a:r>
            <a:r>
              <a:rPr lang="en-IN" dirty="0" err="1">
                <a:effectLst/>
                <a:latin typeface="Times New Roman" panose="02020603050405020304" pitchFamily="18" charset="0"/>
                <a:cs typeface="Times New Roman" panose="02020603050405020304" pitchFamily="18" charset="0"/>
              </a:rPr>
              <a:t>Atthuluri</a:t>
            </a:r>
            <a:r>
              <a:rPr lang="en-IN" dirty="0">
                <a:effectLst/>
                <a:latin typeface="Times New Roman" panose="02020603050405020304" pitchFamily="18" charset="0"/>
                <a:cs typeface="Times New Roman" panose="02020603050405020304" pitchFamily="18" charset="0"/>
              </a:rPr>
              <a:t> (64812)</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599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E0873-A074-B01F-760B-3C2B3ACD9F5A}"/>
              </a:ext>
            </a:extLst>
          </p:cNvPr>
          <p:cNvSpPr>
            <a:spLocks noGrp="1"/>
          </p:cNvSpPr>
          <p:nvPr>
            <p:ph type="title"/>
          </p:nvPr>
        </p:nvSpPr>
        <p:spPr/>
        <p:txBody>
          <a:bodyPr>
            <a:normAutofit/>
          </a:bodyPr>
          <a:lstStyle/>
          <a:p>
            <a:pPr algn="just"/>
            <a:r>
              <a:rPr lang="en-US" sz="4000" b="1" dirty="0"/>
              <a:t>Introduction</a:t>
            </a:r>
            <a:endParaRPr lang="en-IN" sz="4000" b="1" dirty="0"/>
          </a:p>
        </p:txBody>
      </p:sp>
      <p:sp>
        <p:nvSpPr>
          <p:cNvPr id="3" name="Content Placeholder 2">
            <a:extLst>
              <a:ext uri="{FF2B5EF4-FFF2-40B4-BE49-F238E27FC236}">
                <a16:creationId xmlns:a16="http://schemas.microsoft.com/office/drawing/2014/main" id="{ADF47D66-B2B1-31A6-282F-B44FAFB3F65C}"/>
              </a:ext>
            </a:extLst>
          </p:cNvPr>
          <p:cNvSpPr>
            <a:spLocks noGrp="1"/>
          </p:cNvSpPr>
          <p:nvPr>
            <p:ph idx="1"/>
          </p:nvPr>
        </p:nvSpPr>
        <p:spPr/>
        <p:txBody>
          <a:bodyPr anchor="t">
            <a:normAutofit lnSpcReduction="10000"/>
          </a:bodyPr>
          <a:lstStyle/>
          <a:p>
            <a:pPr algn="just"/>
            <a:r>
              <a:rPr lang="en-US" sz="2400" dirty="0"/>
              <a:t>The online mobile trading application is developed for improve the stock and cryptocurrency trading activities.</a:t>
            </a:r>
          </a:p>
          <a:p>
            <a:pPr algn="just"/>
            <a:r>
              <a:rPr lang="en-US" sz="2400" dirty="0"/>
              <a:t>The additional requirement of this application including searching, purchasing, selling, fund transfers and chatbot support.</a:t>
            </a:r>
          </a:p>
          <a:p>
            <a:pPr algn="just"/>
            <a:r>
              <a:rPr lang="en-US" sz="2400" dirty="0"/>
              <a:t>The application aims to enhance the efficiency, security and quality of trading experience.</a:t>
            </a:r>
          </a:p>
          <a:p>
            <a:pPr algn="just"/>
            <a:r>
              <a:rPr lang="en-US" sz="2400" dirty="0"/>
              <a:t>The usability testing and user analysis report is considered before the development of online mobile trading application.</a:t>
            </a:r>
            <a:endParaRPr lang="en-IN" sz="2400" dirty="0"/>
          </a:p>
        </p:txBody>
      </p:sp>
    </p:spTree>
    <p:extLst>
      <p:ext uri="{BB962C8B-B14F-4D97-AF65-F5344CB8AC3E}">
        <p14:creationId xmlns:p14="http://schemas.microsoft.com/office/powerpoint/2010/main" val="143197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1A11A-6C6A-BA69-C136-53249249D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27F41-D346-546C-70CD-F410A10D468B}"/>
              </a:ext>
            </a:extLst>
          </p:cNvPr>
          <p:cNvSpPr>
            <a:spLocks noGrp="1"/>
          </p:cNvSpPr>
          <p:nvPr>
            <p:ph type="title"/>
          </p:nvPr>
        </p:nvSpPr>
        <p:spPr/>
        <p:txBody>
          <a:bodyPr>
            <a:normAutofit/>
          </a:bodyPr>
          <a:lstStyle/>
          <a:p>
            <a:pPr algn="just"/>
            <a:r>
              <a:rPr lang="en-IN" sz="4000" b="1" dirty="0"/>
              <a:t>Design Process</a:t>
            </a:r>
          </a:p>
        </p:txBody>
      </p:sp>
      <p:sp>
        <p:nvSpPr>
          <p:cNvPr id="3" name="Content Placeholder 2">
            <a:extLst>
              <a:ext uri="{FF2B5EF4-FFF2-40B4-BE49-F238E27FC236}">
                <a16:creationId xmlns:a16="http://schemas.microsoft.com/office/drawing/2014/main" id="{C7279883-8EA8-71D2-2DC8-420DA9A0FFB3}"/>
              </a:ext>
            </a:extLst>
          </p:cNvPr>
          <p:cNvSpPr>
            <a:spLocks noGrp="1"/>
          </p:cNvSpPr>
          <p:nvPr>
            <p:ph idx="1"/>
          </p:nvPr>
        </p:nvSpPr>
        <p:spPr/>
        <p:txBody>
          <a:bodyPr anchor="t">
            <a:normAutofit lnSpcReduction="10000"/>
          </a:bodyPr>
          <a:lstStyle/>
          <a:p>
            <a:pPr algn="just"/>
            <a:r>
              <a:rPr lang="en-US" sz="2400" dirty="0"/>
              <a:t>The process of application design  started after user feedback analysis and usability findings.</a:t>
            </a:r>
          </a:p>
          <a:p>
            <a:pPr algn="just"/>
            <a:r>
              <a:rPr lang="en-US" sz="2400" dirty="0"/>
              <a:t>Wireframes are created with clear structure dashboard layout, navigation and feature accessibility[1].</a:t>
            </a:r>
          </a:p>
          <a:p>
            <a:pPr algn="just"/>
            <a:r>
              <a:rPr lang="en-US" sz="2400" dirty="0"/>
              <a:t>Trading functions are strategically located to minimize confusion and enhance user task efficiency.</a:t>
            </a:r>
          </a:p>
          <a:p>
            <a:pPr algn="just"/>
            <a:r>
              <a:rPr lang="en-US" sz="2400" dirty="0"/>
              <a:t>The user interface was designed with simplicity, readability, accessibility and smooth user interaction experience.</a:t>
            </a:r>
            <a:endParaRPr lang="en-IN" sz="2400" dirty="0"/>
          </a:p>
        </p:txBody>
      </p:sp>
    </p:spTree>
    <p:extLst>
      <p:ext uri="{BB962C8B-B14F-4D97-AF65-F5344CB8AC3E}">
        <p14:creationId xmlns:p14="http://schemas.microsoft.com/office/powerpoint/2010/main" val="114504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014E5-A65F-5E4C-8897-4F97B0DCD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B844D-DD71-DFE7-6F43-9EB44C264A61}"/>
              </a:ext>
            </a:extLst>
          </p:cNvPr>
          <p:cNvSpPr>
            <a:spLocks noGrp="1"/>
          </p:cNvSpPr>
          <p:nvPr>
            <p:ph type="title"/>
          </p:nvPr>
        </p:nvSpPr>
        <p:spPr/>
        <p:txBody>
          <a:bodyPr>
            <a:normAutofit/>
          </a:bodyPr>
          <a:lstStyle/>
          <a:p>
            <a:pPr algn="just"/>
            <a:r>
              <a:rPr lang="en-US" sz="4000" b="1" dirty="0"/>
              <a:t>Design Process (Cont.)</a:t>
            </a:r>
            <a:endParaRPr lang="en-IN" sz="4000" b="1" dirty="0"/>
          </a:p>
        </p:txBody>
      </p:sp>
      <p:sp>
        <p:nvSpPr>
          <p:cNvPr id="3" name="Content Placeholder 2">
            <a:extLst>
              <a:ext uri="{FF2B5EF4-FFF2-40B4-BE49-F238E27FC236}">
                <a16:creationId xmlns:a16="http://schemas.microsoft.com/office/drawing/2014/main" id="{44B667DE-C007-B1B9-A42A-F2FF331E4E18}"/>
              </a:ext>
            </a:extLst>
          </p:cNvPr>
          <p:cNvSpPr>
            <a:spLocks noGrp="1"/>
          </p:cNvSpPr>
          <p:nvPr>
            <p:ph idx="1"/>
          </p:nvPr>
        </p:nvSpPr>
        <p:spPr/>
        <p:txBody>
          <a:bodyPr anchor="t">
            <a:normAutofit lnSpcReduction="10000"/>
          </a:bodyPr>
          <a:lstStyle/>
          <a:p>
            <a:pPr algn="just"/>
            <a:r>
              <a:rPr lang="en-US" sz="2400" dirty="0"/>
              <a:t>The mobile app prototype has been designed and developed using Figma tools.</a:t>
            </a:r>
          </a:p>
          <a:p>
            <a:pPr algn="just"/>
            <a:r>
              <a:rPr lang="en-US" sz="2400" dirty="0"/>
              <a:t>The application interface design using modern colors, simple and clear fonts, and simple icons[2].</a:t>
            </a:r>
          </a:p>
          <a:p>
            <a:pPr algn="just"/>
            <a:r>
              <a:rPr lang="en-US" sz="2400" dirty="0"/>
              <a:t>Poor navigation, visibility and feature accessibility issues are some issues identified during user feedback sessions.</a:t>
            </a:r>
          </a:p>
          <a:p>
            <a:pPr algn="just"/>
            <a:r>
              <a:rPr lang="en-US" sz="2400" dirty="0"/>
              <a:t>Some improvements are made in the interfaces to increase usability, user confidence and overall interaction quality[3].</a:t>
            </a:r>
          </a:p>
        </p:txBody>
      </p:sp>
    </p:spTree>
    <p:extLst>
      <p:ext uri="{BB962C8B-B14F-4D97-AF65-F5344CB8AC3E}">
        <p14:creationId xmlns:p14="http://schemas.microsoft.com/office/powerpoint/2010/main" val="82555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0F75E-5376-C518-7E7B-95BB44110F7C}"/>
              </a:ext>
            </a:extLst>
          </p:cNvPr>
          <p:cNvSpPr>
            <a:spLocks noGrp="1"/>
          </p:cNvSpPr>
          <p:nvPr>
            <p:ph type="title"/>
          </p:nvPr>
        </p:nvSpPr>
        <p:spPr/>
        <p:txBody>
          <a:bodyPr/>
          <a:lstStyle/>
          <a:p>
            <a:r>
              <a:rPr lang="en-US" b="1" dirty="0"/>
              <a:t>Design rationale </a:t>
            </a:r>
            <a:endParaRPr lang="en-IN" b="1" dirty="0"/>
          </a:p>
        </p:txBody>
      </p:sp>
      <p:sp>
        <p:nvSpPr>
          <p:cNvPr id="3" name="Content Placeholder 2">
            <a:extLst>
              <a:ext uri="{FF2B5EF4-FFF2-40B4-BE49-F238E27FC236}">
                <a16:creationId xmlns:a16="http://schemas.microsoft.com/office/drawing/2014/main" id="{E7D9A0D5-6095-92EF-5AE7-765070DD2565}"/>
              </a:ext>
            </a:extLst>
          </p:cNvPr>
          <p:cNvSpPr>
            <a:spLocks noGrp="1"/>
          </p:cNvSpPr>
          <p:nvPr>
            <p:ph idx="1"/>
          </p:nvPr>
        </p:nvSpPr>
        <p:spPr/>
        <p:txBody>
          <a:bodyPr>
            <a:normAutofit fontScale="92500" lnSpcReduction="10000"/>
          </a:bodyPr>
          <a:lstStyle/>
          <a:p>
            <a:pPr algn="just"/>
            <a:r>
              <a:rPr lang="en-US" dirty="0"/>
              <a:t>The trading app was created with simple, consistent, and user-centered design principles to enhance the trading experience for every user. </a:t>
            </a:r>
          </a:p>
          <a:p>
            <a:pPr algn="just"/>
            <a:r>
              <a:rPr lang="en-US" dirty="0"/>
              <a:t>The interface have clear structure, navigation options, and clean layouts. </a:t>
            </a:r>
          </a:p>
          <a:p>
            <a:pPr algn="just"/>
            <a:r>
              <a:rPr lang="en-US" dirty="0"/>
              <a:t>A bottom navigation bar was added for the user to access the key features that including dashboard, markets, portfolio and trade[4]. </a:t>
            </a:r>
          </a:p>
          <a:p>
            <a:pPr algn="just"/>
            <a:r>
              <a:rPr lang="en-US" dirty="0"/>
              <a:t>The users can quickly recognize financial information with using visual strategies such as color contrast, larger typefaces, and structure information cards. </a:t>
            </a:r>
          </a:p>
          <a:p>
            <a:pPr algn="just"/>
            <a:r>
              <a:rPr lang="en-US" dirty="0"/>
              <a:t>These enhancements increase the application of overall task completion efficiency, decrease user confusion, and improve usability. </a:t>
            </a:r>
            <a:endParaRPr lang="en-IN" dirty="0"/>
          </a:p>
        </p:txBody>
      </p:sp>
    </p:spTree>
    <p:extLst>
      <p:ext uri="{BB962C8B-B14F-4D97-AF65-F5344CB8AC3E}">
        <p14:creationId xmlns:p14="http://schemas.microsoft.com/office/powerpoint/2010/main" val="448070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2C882-933C-3D57-E00D-71E1CA3B07F0}"/>
              </a:ext>
            </a:extLst>
          </p:cNvPr>
          <p:cNvSpPr>
            <a:spLocks noGrp="1"/>
          </p:cNvSpPr>
          <p:nvPr>
            <p:ph type="title"/>
          </p:nvPr>
        </p:nvSpPr>
        <p:spPr/>
        <p:txBody>
          <a:bodyPr/>
          <a:lstStyle/>
          <a:p>
            <a:r>
              <a:rPr lang="en-US" b="1" dirty="0"/>
              <a:t>Design Rationale (Cont.)</a:t>
            </a:r>
            <a:endParaRPr lang="en-IN" b="1" dirty="0"/>
          </a:p>
        </p:txBody>
      </p:sp>
      <p:sp>
        <p:nvSpPr>
          <p:cNvPr id="3" name="Content Placeholder 2">
            <a:extLst>
              <a:ext uri="{FF2B5EF4-FFF2-40B4-BE49-F238E27FC236}">
                <a16:creationId xmlns:a16="http://schemas.microsoft.com/office/drawing/2014/main" id="{8EB8B591-CC4F-4073-3D85-C3D2226BFD95}"/>
              </a:ext>
            </a:extLst>
          </p:cNvPr>
          <p:cNvSpPr>
            <a:spLocks noGrp="1"/>
          </p:cNvSpPr>
          <p:nvPr>
            <p:ph idx="1"/>
          </p:nvPr>
        </p:nvSpPr>
        <p:spPr/>
        <p:txBody>
          <a:bodyPr>
            <a:normAutofit fontScale="92500" lnSpcReduction="20000"/>
          </a:bodyPr>
          <a:lstStyle/>
          <a:p>
            <a:pPr algn="just"/>
            <a:r>
              <a:rPr lang="en-US" dirty="0"/>
              <a:t>The trading app design has incorporated with security and trust into account because users conduct critical financial operations. </a:t>
            </a:r>
          </a:p>
          <a:p>
            <a:pPr algn="just"/>
            <a:r>
              <a:rPr lang="en-US" dirty="0"/>
              <a:t>The features like login, two-factor authentication, secure bank transfer confirmation, and notification alters were included to increase account security and user confidence. </a:t>
            </a:r>
          </a:p>
          <a:p>
            <a:pPr algn="just"/>
            <a:r>
              <a:rPr lang="en-US" dirty="0"/>
              <a:t>The software also incorporates auto trading and chatbot support to increase efficiency and accessibility[5]. </a:t>
            </a:r>
          </a:p>
          <a:p>
            <a:pPr algn="just"/>
            <a:r>
              <a:rPr lang="en-US" dirty="0"/>
              <a:t>The chatbot provide trading advice and immediate assistance because the auto trading tool enables users to automate trading techniques. </a:t>
            </a:r>
          </a:p>
          <a:p>
            <a:pPr algn="just"/>
            <a:r>
              <a:rPr lang="en-US" dirty="0"/>
              <a:t>So, these features will support for both novice and expert traders that will increase user engagement and decision-making. </a:t>
            </a:r>
            <a:endParaRPr lang="en-IN" dirty="0"/>
          </a:p>
        </p:txBody>
      </p:sp>
    </p:spTree>
    <p:extLst>
      <p:ext uri="{BB962C8B-B14F-4D97-AF65-F5344CB8AC3E}">
        <p14:creationId xmlns:p14="http://schemas.microsoft.com/office/powerpoint/2010/main" val="2393318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0DF37-D6C6-F7B8-2BF9-DE3E48113BDA}"/>
              </a:ext>
            </a:extLst>
          </p:cNvPr>
          <p:cNvSpPr>
            <a:spLocks noGrp="1"/>
          </p:cNvSpPr>
          <p:nvPr>
            <p:ph type="title"/>
          </p:nvPr>
        </p:nvSpPr>
        <p:spPr/>
        <p:txBody>
          <a:bodyPr/>
          <a:lstStyle/>
          <a:p>
            <a:r>
              <a:rPr lang="en-US" b="1" dirty="0"/>
              <a:t>User Interface Design</a:t>
            </a:r>
          </a:p>
        </p:txBody>
      </p:sp>
      <p:sp>
        <p:nvSpPr>
          <p:cNvPr id="4" name="Content Placeholder 3">
            <a:extLst>
              <a:ext uri="{FF2B5EF4-FFF2-40B4-BE49-F238E27FC236}">
                <a16:creationId xmlns:a16="http://schemas.microsoft.com/office/drawing/2014/main" id="{63984081-2A79-8644-A867-B4854B8C1D1A}"/>
              </a:ext>
            </a:extLst>
          </p:cNvPr>
          <p:cNvSpPr>
            <a:spLocks noGrp="1"/>
          </p:cNvSpPr>
          <p:nvPr>
            <p:ph sz="half" idx="1"/>
          </p:nvPr>
        </p:nvSpPr>
        <p:spPr/>
        <p:txBody>
          <a:bodyPr>
            <a:normAutofit fontScale="77500" lnSpcReduction="20000"/>
          </a:bodyPr>
          <a:lstStyle/>
          <a:p>
            <a:pPr algn="just"/>
            <a:r>
              <a:rPr lang="en-US" dirty="0"/>
              <a:t>Trading App branding is introduced through a modern minimalist trading aesthetics. </a:t>
            </a:r>
          </a:p>
          <a:p>
            <a:pPr algn="just"/>
            <a:r>
              <a:rPr lang="en-US" dirty="0"/>
              <a:t>A secure authentication is given with login interface for simple accessibility and navigation. </a:t>
            </a:r>
          </a:p>
          <a:p>
            <a:pPr algn="just"/>
            <a:r>
              <a:rPr lang="en-US" dirty="0"/>
              <a:t>The dashboard screen displays actions, balances, market trends and quick navigation. </a:t>
            </a:r>
          </a:p>
          <a:p>
            <a:pPr algn="just"/>
            <a:r>
              <a:rPr lang="en-US" dirty="0"/>
              <a:t>The search function helps to locate stocks and cryptocurrency very quickly. </a:t>
            </a:r>
          </a:p>
          <a:p>
            <a:pPr algn="just"/>
            <a:r>
              <a:rPr lang="en-US" dirty="0"/>
              <a:t>The bottom navigation is improved with accessibility among chatbot, trading, and transfer features[6]. </a:t>
            </a:r>
          </a:p>
        </p:txBody>
      </p:sp>
      <p:pic>
        <p:nvPicPr>
          <p:cNvPr id="6" name="Content Placeholder 5">
            <a:extLst>
              <a:ext uri="{FF2B5EF4-FFF2-40B4-BE49-F238E27FC236}">
                <a16:creationId xmlns:a16="http://schemas.microsoft.com/office/drawing/2014/main" id="{FCB3E8CD-774D-FB38-F177-81E0D53C27D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670114" y="1764090"/>
            <a:ext cx="2128372" cy="4351338"/>
          </a:xfrm>
          <a:prstGeom prst="rect">
            <a:avLst/>
          </a:prstGeom>
        </p:spPr>
      </p:pic>
      <p:pic>
        <p:nvPicPr>
          <p:cNvPr id="7" name="Picture 6">
            <a:extLst>
              <a:ext uri="{FF2B5EF4-FFF2-40B4-BE49-F238E27FC236}">
                <a16:creationId xmlns:a16="http://schemas.microsoft.com/office/drawing/2014/main" id="{5C36D05F-3BB1-5275-B280-4FB921BD36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52200" y="1764090"/>
            <a:ext cx="2239675" cy="4351338"/>
          </a:xfrm>
          <a:prstGeom prst="rect">
            <a:avLst/>
          </a:prstGeom>
        </p:spPr>
      </p:pic>
    </p:spTree>
    <p:extLst>
      <p:ext uri="{BB962C8B-B14F-4D97-AF65-F5344CB8AC3E}">
        <p14:creationId xmlns:p14="http://schemas.microsoft.com/office/powerpoint/2010/main" val="613662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CBC55-6659-5537-6A5A-976454D476C3}"/>
              </a:ext>
            </a:extLst>
          </p:cNvPr>
          <p:cNvSpPr>
            <a:spLocks noGrp="1"/>
          </p:cNvSpPr>
          <p:nvPr>
            <p:ph type="title"/>
          </p:nvPr>
        </p:nvSpPr>
        <p:spPr/>
        <p:txBody>
          <a:bodyPr/>
          <a:lstStyle/>
          <a:p>
            <a:r>
              <a:rPr lang="en-US" b="1" dirty="0"/>
              <a:t>User Interface Design (Cont.)</a:t>
            </a:r>
            <a:endParaRPr lang="en-US" dirty="0"/>
          </a:p>
        </p:txBody>
      </p:sp>
      <p:sp>
        <p:nvSpPr>
          <p:cNvPr id="4" name="Content Placeholder 3">
            <a:extLst>
              <a:ext uri="{FF2B5EF4-FFF2-40B4-BE49-F238E27FC236}">
                <a16:creationId xmlns:a16="http://schemas.microsoft.com/office/drawing/2014/main" id="{F9C1713C-5B73-A76E-BC07-A81023791199}"/>
              </a:ext>
            </a:extLst>
          </p:cNvPr>
          <p:cNvSpPr>
            <a:spLocks noGrp="1"/>
          </p:cNvSpPr>
          <p:nvPr>
            <p:ph sz="half" idx="1"/>
          </p:nvPr>
        </p:nvSpPr>
        <p:spPr/>
        <p:txBody>
          <a:bodyPr>
            <a:normAutofit fontScale="85000" lnSpcReduction="20000"/>
          </a:bodyPr>
          <a:lstStyle/>
          <a:p>
            <a:pPr algn="just"/>
            <a:r>
              <a:rPr lang="en-US" dirty="0"/>
              <a:t>The price alert screen notify users based on the important changes in cryptocurrency values. </a:t>
            </a:r>
          </a:p>
          <a:p>
            <a:pPr algn="just"/>
            <a:r>
              <a:rPr lang="en-US" dirty="0"/>
              <a:t>Faster monitoring will be happened in watchlist features for the favorite assets without a search.</a:t>
            </a:r>
          </a:p>
          <a:p>
            <a:pPr algn="just"/>
            <a:r>
              <a:rPr lang="en-US" dirty="0"/>
              <a:t>The investment strategies and notification management options is given in auto trading preferences. </a:t>
            </a:r>
          </a:p>
          <a:p>
            <a:pPr algn="just"/>
            <a:r>
              <a:rPr lang="en-US" dirty="0"/>
              <a:t>Beginner users can get their support from chatbot assistance with interaction and guidance features[6]. </a:t>
            </a:r>
          </a:p>
        </p:txBody>
      </p:sp>
      <p:pic>
        <p:nvPicPr>
          <p:cNvPr id="6" name="Content Placeholder 5">
            <a:extLst>
              <a:ext uri="{FF2B5EF4-FFF2-40B4-BE49-F238E27FC236}">
                <a16:creationId xmlns:a16="http://schemas.microsoft.com/office/drawing/2014/main" id="{AC9D5AA0-E59A-FB09-A200-DAE172CC13D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013276" y="1825625"/>
            <a:ext cx="2204047" cy="4351338"/>
          </a:xfrm>
          <a:prstGeom prst="rect">
            <a:avLst/>
          </a:prstGeom>
        </p:spPr>
      </p:pic>
      <p:pic>
        <p:nvPicPr>
          <p:cNvPr id="7" name="Picture 6">
            <a:extLst>
              <a:ext uri="{FF2B5EF4-FFF2-40B4-BE49-F238E27FC236}">
                <a16:creationId xmlns:a16="http://schemas.microsoft.com/office/drawing/2014/main" id="{22E9F1C7-E804-B8C5-A2A7-1EA427A1BF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4193" y="1825625"/>
            <a:ext cx="2128226" cy="4351338"/>
          </a:xfrm>
          <a:prstGeom prst="rect">
            <a:avLst/>
          </a:prstGeom>
        </p:spPr>
      </p:pic>
    </p:spTree>
    <p:extLst>
      <p:ext uri="{BB962C8B-B14F-4D97-AF65-F5344CB8AC3E}">
        <p14:creationId xmlns:p14="http://schemas.microsoft.com/office/powerpoint/2010/main" val="3393225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30051-88D2-3306-4A74-D9BD8679CAFA}"/>
              </a:ext>
            </a:extLst>
          </p:cNvPr>
          <p:cNvSpPr>
            <a:spLocks noGrp="1"/>
          </p:cNvSpPr>
          <p:nvPr>
            <p:ph type="title"/>
          </p:nvPr>
        </p:nvSpPr>
        <p:spPr/>
        <p:txBody>
          <a:bodyPr/>
          <a:lstStyle/>
          <a:p>
            <a:r>
              <a:rPr lang="en-US" b="1" dirty="0"/>
              <a:t>Usability Evaluation</a:t>
            </a:r>
          </a:p>
        </p:txBody>
      </p:sp>
      <p:sp>
        <p:nvSpPr>
          <p:cNvPr id="4" name="Content Placeholder 3">
            <a:extLst>
              <a:ext uri="{FF2B5EF4-FFF2-40B4-BE49-F238E27FC236}">
                <a16:creationId xmlns:a16="http://schemas.microsoft.com/office/drawing/2014/main" id="{4E746F95-8A6B-E78D-DBF4-1D52C4F1AA52}"/>
              </a:ext>
            </a:extLst>
          </p:cNvPr>
          <p:cNvSpPr>
            <a:spLocks noGrp="1"/>
          </p:cNvSpPr>
          <p:nvPr>
            <p:ph sz="half" idx="1"/>
          </p:nvPr>
        </p:nvSpPr>
        <p:spPr/>
        <p:txBody>
          <a:bodyPr>
            <a:normAutofit fontScale="70000" lnSpcReduction="20000"/>
          </a:bodyPr>
          <a:lstStyle/>
          <a:p>
            <a:pPr algn="just"/>
            <a:r>
              <a:rPr lang="en-US" dirty="0"/>
              <a:t>The application navigation efficiency is evaluated for survey-participants through five-point rating scales. </a:t>
            </a:r>
          </a:p>
          <a:p>
            <a:pPr algn="just"/>
            <a:r>
              <a:rPr lang="en-US" dirty="0"/>
              <a:t>Many users completes successfully with assigned trading tasks without any operational confusion. </a:t>
            </a:r>
          </a:p>
          <a:p>
            <a:pPr algn="just"/>
            <a:r>
              <a:rPr lang="en-US" dirty="0"/>
              <a:t>Simplified interfaces are preferred by the participants to support navigation complexity and quick transactions.</a:t>
            </a:r>
          </a:p>
          <a:p>
            <a:pPr algn="just"/>
            <a:r>
              <a:rPr lang="en-US" dirty="0"/>
              <a:t>Integrated watchlist features are appreciated by users for monitoring traded assets in frequent way[7]. </a:t>
            </a:r>
          </a:p>
          <a:p>
            <a:pPr algn="just"/>
            <a:r>
              <a:rPr lang="en-US" dirty="0"/>
              <a:t>A positive satisfaction level is indicated as survey responses based on application visual consistency. </a:t>
            </a:r>
          </a:p>
        </p:txBody>
      </p:sp>
      <p:pic>
        <p:nvPicPr>
          <p:cNvPr id="6" name="Content Placeholder 5" descr="Forms response chart. Question title: 1. How easy was it to navigate through the TradeCore application?. Number of responses: 7 responses.">
            <a:extLst>
              <a:ext uri="{FF2B5EF4-FFF2-40B4-BE49-F238E27FC236}">
                <a16:creationId xmlns:a16="http://schemas.microsoft.com/office/drawing/2014/main" id="{FFC9E1D1-233F-CB75-6C2C-0307670AA50A}"/>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6257925" y="1690688"/>
            <a:ext cx="5181600" cy="2463137"/>
          </a:xfrm>
          <a:prstGeom prst="rect">
            <a:avLst/>
          </a:prstGeom>
          <a:noFill/>
          <a:ln>
            <a:noFill/>
          </a:ln>
        </p:spPr>
      </p:pic>
      <p:pic>
        <p:nvPicPr>
          <p:cNvPr id="7" name="Picture 6" descr="Forms response chart. Question title: 2. Which feature of the application did you find most useful?. Number of responses: 7 responses.">
            <a:extLst>
              <a:ext uri="{FF2B5EF4-FFF2-40B4-BE49-F238E27FC236}">
                <a16:creationId xmlns:a16="http://schemas.microsoft.com/office/drawing/2014/main" id="{9EBFD6C7-ACF4-26D9-4A73-656E0128D2E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34571" y="4316277"/>
            <a:ext cx="5017137" cy="2112245"/>
          </a:xfrm>
          <a:prstGeom prst="rect">
            <a:avLst/>
          </a:prstGeom>
          <a:noFill/>
          <a:ln>
            <a:noFill/>
          </a:ln>
        </p:spPr>
      </p:pic>
    </p:spTree>
    <p:extLst>
      <p:ext uri="{BB962C8B-B14F-4D97-AF65-F5344CB8AC3E}">
        <p14:creationId xmlns:p14="http://schemas.microsoft.com/office/powerpoint/2010/main" val="3789434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F60DB-D975-A2AA-D065-6828296FA068}"/>
              </a:ext>
            </a:extLst>
          </p:cNvPr>
          <p:cNvSpPr>
            <a:spLocks noGrp="1"/>
          </p:cNvSpPr>
          <p:nvPr>
            <p:ph type="title"/>
          </p:nvPr>
        </p:nvSpPr>
        <p:spPr/>
        <p:txBody>
          <a:bodyPr/>
          <a:lstStyle/>
          <a:p>
            <a:r>
              <a:rPr lang="en-US" b="1" dirty="0"/>
              <a:t>Usability Evaluation (Cont.)</a:t>
            </a:r>
          </a:p>
        </p:txBody>
      </p:sp>
      <p:sp>
        <p:nvSpPr>
          <p:cNvPr id="4" name="Content Placeholder 3">
            <a:extLst>
              <a:ext uri="{FF2B5EF4-FFF2-40B4-BE49-F238E27FC236}">
                <a16:creationId xmlns:a16="http://schemas.microsoft.com/office/drawing/2014/main" id="{4D9DA9BB-FD87-751B-00D9-095B99638019}"/>
              </a:ext>
            </a:extLst>
          </p:cNvPr>
          <p:cNvSpPr>
            <a:spLocks noGrp="1"/>
          </p:cNvSpPr>
          <p:nvPr>
            <p:ph sz="half" idx="1"/>
          </p:nvPr>
        </p:nvSpPr>
        <p:spPr/>
        <p:txBody>
          <a:bodyPr>
            <a:normAutofit fontScale="77500" lnSpcReduction="20000"/>
          </a:bodyPr>
          <a:lstStyle/>
          <a:p>
            <a:pPr algn="just"/>
            <a:r>
              <a:rPr lang="en-US" dirty="0"/>
              <a:t>User awareness is improved in price alert functionality based on cryptocurrency in market fluctuations. </a:t>
            </a:r>
          </a:p>
          <a:p>
            <a:pPr algn="just"/>
            <a:r>
              <a:rPr lang="en-US" dirty="0"/>
              <a:t>User confidence is increased with auto trading customization using investment preference management. </a:t>
            </a:r>
          </a:p>
          <a:p>
            <a:pPr algn="just"/>
            <a:r>
              <a:rPr lang="en-US" dirty="0"/>
              <a:t>Beginner difficulties are reduced with chatbot assistance by giving them a support at navigation. </a:t>
            </a:r>
          </a:p>
          <a:p>
            <a:pPr algn="just"/>
            <a:r>
              <a:rPr lang="en-US" dirty="0"/>
              <a:t>It recommends chatbot intelligence, improve transaction feedback, and clarity systems[8]. </a:t>
            </a:r>
          </a:p>
          <a:p>
            <a:pPr algn="just"/>
            <a:r>
              <a:rPr lang="en-US" dirty="0"/>
              <a:t>Usability evaluation confirms TradeCore delivers a user-friendly and efficient trading experiences. </a:t>
            </a:r>
          </a:p>
        </p:txBody>
      </p:sp>
      <p:pic>
        <p:nvPicPr>
          <p:cNvPr id="6" name="Content Placeholder 5" descr="Forms response chart. Question title: 3. Were you able to complete trading tasks without confusion?. Number of responses: 7 responses.">
            <a:extLst>
              <a:ext uri="{FF2B5EF4-FFF2-40B4-BE49-F238E27FC236}">
                <a16:creationId xmlns:a16="http://schemas.microsoft.com/office/drawing/2014/main" id="{2F379564-D71B-EDED-AD30-8052AE9CB276}"/>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bwMode="auto">
          <a:xfrm>
            <a:off x="6602413" y="3429000"/>
            <a:ext cx="5094287" cy="2144769"/>
          </a:xfrm>
          <a:prstGeom prst="rect">
            <a:avLst/>
          </a:prstGeom>
          <a:noFill/>
          <a:ln>
            <a:noFill/>
          </a:ln>
        </p:spPr>
      </p:pic>
      <p:pic>
        <p:nvPicPr>
          <p:cNvPr id="7" name="Picture 6" descr="Forms response chart. Question title: 4. How satisfied are you with the visual design and interface of the application?. Number of responses: 7 responses.">
            <a:extLst>
              <a:ext uri="{FF2B5EF4-FFF2-40B4-BE49-F238E27FC236}">
                <a16:creationId xmlns:a16="http://schemas.microsoft.com/office/drawing/2014/main" id="{18BF7790-B3FE-5A4A-E678-2121B3A2AB6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15901" y="1504950"/>
            <a:ext cx="4351655" cy="2069760"/>
          </a:xfrm>
          <a:prstGeom prst="rect">
            <a:avLst/>
          </a:prstGeom>
          <a:noFill/>
          <a:ln>
            <a:noFill/>
          </a:ln>
        </p:spPr>
      </p:pic>
      <p:pic>
        <p:nvPicPr>
          <p:cNvPr id="8" name="Picture 7" descr="Forms response chart. Question title: 5. Would you use TradeCore regularly if it were a real mobile trading application?. Number of responses: 7 responses.">
            <a:extLst>
              <a:ext uri="{FF2B5EF4-FFF2-40B4-BE49-F238E27FC236}">
                <a16:creationId xmlns:a16="http://schemas.microsoft.com/office/drawing/2014/main" id="{21791894-CBBF-E3C9-BB29-C543A15818C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03959" y="4967395"/>
            <a:ext cx="3037205" cy="1647609"/>
          </a:xfrm>
          <a:prstGeom prst="rect">
            <a:avLst/>
          </a:prstGeom>
          <a:noFill/>
          <a:ln>
            <a:noFill/>
          </a:ln>
        </p:spPr>
      </p:pic>
    </p:spTree>
    <p:extLst>
      <p:ext uri="{BB962C8B-B14F-4D97-AF65-F5344CB8AC3E}">
        <p14:creationId xmlns:p14="http://schemas.microsoft.com/office/powerpoint/2010/main" val="3075243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B1BC-ED15-C977-0D08-C2D0B4B11843}"/>
              </a:ext>
            </a:extLst>
          </p:cNvPr>
          <p:cNvSpPr>
            <a:spLocks noGrp="1"/>
          </p:cNvSpPr>
          <p:nvPr>
            <p:ph type="title"/>
          </p:nvPr>
        </p:nvSpPr>
        <p:spPr/>
        <p:txBody>
          <a:bodyPr/>
          <a:lstStyle/>
          <a:p>
            <a:r>
              <a:rPr lang="en-US" b="1" dirty="0"/>
              <a:t>Conclusion </a:t>
            </a:r>
            <a:endParaRPr lang="en-IN" b="1" dirty="0"/>
          </a:p>
        </p:txBody>
      </p:sp>
      <p:sp>
        <p:nvSpPr>
          <p:cNvPr id="3" name="Content Placeholder 2">
            <a:extLst>
              <a:ext uri="{FF2B5EF4-FFF2-40B4-BE49-F238E27FC236}">
                <a16:creationId xmlns:a16="http://schemas.microsoft.com/office/drawing/2014/main" id="{DB0E32C2-5316-833C-85A8-8086082C8F55}"/>
              </a:ext>
            </a:extLst>
          </p:cNvPr>
          <p:cNvSpPr>
            <a:spLocks noGrp="1"/>
          </p:cNvSpPr>
          <p:nvPr>
            <p:ph idx="1"/>
          </p:nvPr>
        </p:nvSpPr>
        <p:spPr/>
        <p:txBody>
          <a:bodyPr/>
          <a:lstStyle/>
          <a:p>
            <a:pPr algn="just"/>
            <a:r>
              <a:rPr lang="en-US" dirty="0"/>
              <a:t>The smart trading app redesign was created that enhanced the security, accessibility, usability, and navigation. </a:t>
            </a:r>
          </a:p>
          <a:p>
            <a:pPr algn="just"/>
            <a:r>
              <a:rPr lang="en-US" dirty="0"/>
              <a:t>The whole user experience was improved with features that including chatbot support, auto trading, secure login, and simple trading processes. </a:t>
            </a:r>
          </a:p>
          <a:p>
            <a:pPr algn="just"/>
            <a:r>
              <a:rPr lang="en-US" dirty="0"/>
              <a:t>The experiment illustrated the effective interaction design can enhance user satisfaction, reduce errors, and facilitate effective financial transactions for both novice and expert traders. </a:t>
            </a:r>
            <a:endParaRPr lang="en-IN" dirty="0"/>
          </a:p>
        </p:txBody>
      </p:sp>
    </p:spTree>
    <p:extLst>
      <p:ext uri="{BB962C8B-B14F-4D97-AF65-F5344CB8AC3E}">
        <p14:creationId xmlns:p14="http://schemas.microsoft.com/office/powerpoint/2010/main" val="1532974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F3D2-4DC5-F68A-BCFA-AC3B87B2A42C}"/>
              </a:ext>
            </a:extLst>
          </p:cNvPr>
          <p:cNvSpPr>
            <a:spLocks noGrp="1"/>
          </p:cNvSpPr>
          <p:nvPr>
            <p:ph type="title"/>
          </p:nvPr>
        </p:nvSpPr>
        <p:spPr>
          <a:xfrm>
            <a:off x="570895" y="162792"/>
            <a:ext cx="10353761" cy="943200"/>
          </a:xfrm>
        </p:spPr>
        <p:txBody>
          <a:bodyPr/>
          <a:lstStyle/>
          <a:p>
            <a:r>
              <a:rPr lang="en-US" b="1" dirty="0"/>
              <a:t>References </a:t>
            </a:r>
            <a:endParaRPr lang="en-IN" b="1" dirty="0"/>
          </a:p>
        </p:txBody>
      </p:sp>
      <p:graphicFrame>
        <p:nvGraphicFramePr>
          <p:cNvPr id="4" name="Content Placeholder 3">
            <a:extLst>
              <a:ext uri="{FF2B5EF4-FFF2-40B4-BE49-F238E27FC236}">
                <a16:creationId xmlns:a16="http://schemas.microsoft.com/office/drawing/2014/main" id="{6A314CF8-64CF-B8F8-9D79-611BC9B2F761}"/>
              </a:ext>
            </a:extLst>
          </p:cNvPr>
          <p:cNvGraphicFramePr>
            <a:graphicFrameLocks noGrp="1"/>
          </p:cNvGraphicFramePr>
          <p:nvPr>
            <p:ph idx="1"/>
            <p:extLst>
              <p:ext uri="{D42A27DB-BD31-4B8C-83A1-F6EECF244321}">
                <p14:modId xmlns:p14="http://schemas.microsoft.com/office/powerpoint/2010/main" val="962394156"/>
              </p:ext>
            </p:extLst>
          </p:nvPr>
        </p:nvGraphicFramePr>
        <p:xfrm>
          <a:off x="627523" y="1105992"/>
          <a:ext cx="10993582" cy="5475157"/>
        </p:xfrm>
        <a:graphic>
          <a:graphicData uri="http://schemas.openxmlformats.org/drawingml/2006/table">
            <a:tbl>
              <a:tblPr firstRow="1" firstCol="1" bandRow="1">
                <a:tableStyleId>{5C22544A-7EE6-4342-B048-85BDC9FD1C3A}</a:tableStyleId>
              </a:tblPr>
              <a:tblGrid>
                <a:gridCol w="511305">
                  <a:extLst>
                    <a:ext uri="{9D8B030D-6E8A-4147-A177-3AD203B41FA5}">
                      <a16:colId xmlns:a16="http://schemas.microsoft.com/office/drawing/2014/main" val="729428746"/>
                    </a:ext>
                  </a:extLst>
                </a:gridCol>
                <a:gridCol w="10482277">
                  <a:extLst>
                    <a:ext uri="{9D8B030D-6E8A-4147-A177-3AD203B41FA5}">
                      <a16:colId xmlns:a16="http://schemas.microsoft.com/office/drawing/2014/main" val="966626595"/>
                    </a:ext>
                  </a:extLst>
                </a:gridCol>
              </a:tblGrid>
              <a:tr h="678736">
                <a:tc>
                  <a:txBody>
                    <a:bodyPr/>
                    <a:lstStyle/>
                    <a:p>
                      <a:pPr marL="0" marR="0" algn="just">
                        <a:lnSpc>
                          <a:spcPct val="150000"/>
                        </a:lnSpc>
                        <a:spcAft>
                          <a:spcPts val="800"/>
                        </a:spcAft>
                        <a:buNone/>
                      </a:pPr>
                      <a:r>
                        <a:rPr lang="en-IN" sz="1400" kern="100">
                          <a:effectLst/>
                        </a:rPr>
                        <a:t>[1]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tc>
                  <a:txBody>
                    <a:bodyPr/>
                    <a:lstStyle/>
                    <a:p>
                      <a:pPr marL="0" marR="0" algn="just">
                        <a:lnSpc>
                          <a:spcPct val="150000"/>
                        </a:lnSpc>
                        <a:spcAft>
                          <a:spcPts val="800"/>
                        </a:spcAft>
                        <a:buNone/>
                      </a:pPr>
                      <a:r>
                        <a:rPr lang="en-IN" sz="1400" kern="100" dirty="0">
                          <a:effectLst/>
                        </a:rPr>
                        <a:t>Z. Huang and M. Benyoucef, “An Empirical Study of Mobile Application Usability: A Unified Hierarchical Approach,” International Journal of Human–Computer Interaction, vol. 39, no. 13, pp. 2624-2643, 2021. </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extLst>
                  <a:ext uri="{0D108BD9-81ED-4DB2-BD59-A6C34878D82A}">
                    <a16:rowId xmlns:a16="http://schemas.microsoft.com/office/drawing/2014/main" val="205605356"/>
                  </a:ext>
                </a:extLst>
              </a:tr>
              <a:tr h="470099">
                <a:tc>
                  <a:txBody>
                    <a:bodyPr/>
                    <a:lstStyle/>
                    <a:p>
                      <a:pPr marL="0" marR="0" algn="just">
                        <a:lnSpc>
                          <a:spcPct val="150000"/>
                        </a:lnSpc>
                        <a:spcAft>
                          <a:spcPts val="800"/>
                        </a:spcAft>
                        <a:buNone/>
                      </a:pPr>
                      <a:r>
                        <a:rPr lang="en-IN" sz="1400" kern="100">
                          <a:effectLst/>
                        </a:rPr>
                        <a:t>[2]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tc>
                  <a:txBody>
                    <a:bodyPr/>
                    <a:lstStyle/>
                    <a:p>
                      <a:pPr marL="0" marR="0" algn="just">
                        <a:lnSpc>
                          <a:spcPct val="150000"/>
                        </a:lnSpc>
                        <a:spcAft>
                          <a:spcPts val="800"/>
                        </a:spcAft>
                        <a:buNone/>
                      </a:pPr>
                      <a:r>
                        <a:rPr lang="en-IN" sz="1400" kern="100" dirty="0">
                          <a:effectLst/>
                        </a:rPr>
                        <a:t>P. </a:t>
                      </a:r>
                      <a:r>
                        <a:rPr lang="en-IN" sz="1400" kern="100" dirty="0" err="1">
                          <a:effectLst/>
                        </a:rPr>
                        <a:t>Weichbroth</a:t>
                      </a:r>
                      <a:r>
                        <a:rPr lang="en-IN" sz="1400" kern="100" dirty="0">
                          <a:effectLst/>
                        </a:rPr>
                        <a:t>, “Usability of Mobile Applications: A Consolidated Model,” IEEE Access , vol. 12, pp. 62378 - 62391, 2024. </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extLst>
                  <a:ext uri="{0D108BD9-81ED-4DB2-BD59-A6C34878D82A}">
                    <a16:rowId xmlns:a16="http://schemas.microsoft.com/office/drawing/2014/main" val="3939065093"/>
                  </a:ext>
                </a:extLst>
              </a:tr>
              <a:tr h="678736">
                <a:tc>
                  <a:txBody>
                    <a:bodyPr/>
                    <a:lstStyle/>
                    <a:p>
                      <a:pPr marL="0" marR="0" algn="just">
                        <a:lnSpc>
                          <a:spcPct val="150000"/>
                        </a:lnSpc>
                        <a:spcAft>
                          <a:spcPts val="800"/>
                        </a:spcAft>
                        <a:buNone/>
                      </a:pPr>
                      <a:r>
                        <a:rPr lang="en-IN" sz="1400" kern="100">
                          <a:effectLst/>
                        </a:rPr>
                        <a:t>[3]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tc>
                  <a:txBody>
                    <a:bodyPr/>
                    <a:lstStyle/>
                    <a:p>
                      <a:pPr marL="0" marR="0" algn="just">
                        <a:lnSpc>
                          <a:spcPct val="150000"/>
                        </a:lnSpc>
                        <a:spcAft>
                          <a:spcPts val="800"/>
                        </a:spcAft>
                        <a:buNone/>
                      </a:pPr>
                      <a:r>
                        <a:rPr lang="en-IN" sz="1400" kern="100" dirty="0">
                          <a:effectLst/>
                        </a:rPr>
                        <a:t>A. K. Srivastava, “Design a Real-Time Stock Trading Platform,” Medium, 14 June 2025. [Online]. Available: https://medium.com/@ankitviddya/design-a-real-time-stock-trading-platform-d4537cf5d0c7.</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extLst>
                  <a:ext uri="{0D108BD9-81ED-4DB2-BD59-A6C34878D82A}">
                    <a16:rowId xmlns:a16="http://schemas.microsoft.com/office/drawing/2014/main" val="2977296619"/>
                  </a:ext>
                </a:extLst>
              </a:tr>
              <a:tr h="678736">
                <a:tc>
                  <a:txBody>
                    <a:bodyPr/>
                    <a:lstStyle/>
                    <a:p>
                      <a:pPr marL="0" marR="0" algn="just">
                        <a:lnSpc>
                          <a:spcPct val="150000"/>
                        </a:lnSpc>
                        <a:spcAft>
                          <a:spcPts val="800"/>
                        </a:spcAft>
                        <a:buNone/>
                      </a:pPr>
                      <a:r>
                        <a:rPr lang="en-IN" sz="1400" kern="100">
                          <a:effectLst/>
                        </a:rPr>
                        <a:t>[4]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tc>
                  <a:txBody>
                    <a:bodyPr/>
                    <a:lstStyle/>
                    <a:p>
                      <a:pPr marL="0" marR="0" algn="just">
                        <a:lnSpc>
                          <a:spcPct val="150000"/>
                        </a:lnSpc>
                        <a:spcAft>
                          <a:spcPts val="800"/>
                        </a:spcAft>
                        <a:buNone/>
                      </a:pPr>
                      <a:r>
                        <a:rPr lang="en-IN" sz="1400" kern="100">
                          <a:effectLst/>
                        </a:rPr>
                        <a:t>E. N., “Design quality of Mobile trading system application software for Smartphones,” Asian Journal of Management, vol. 7, no. 3, pp. 207-212, 201.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extLst>
                  <a:ext uri="{0D108BD9-81ED-4DB2-BD59-A6C34878D82A}">
                    <a16:rowId xmlns:a16="http://schemas.microsoft.com/office/drawing/2014/main" val="1352693049"/>
                  </a:ext>
                </a:extLst>
              </a:tr>
              <a:tr h="678736">
                <a:tc>
                  <a:txBody>
                    <a:bodyPr/>
                    <a:lstStyle/>
                    <a:p>
                      <a:pPr marL="0" marR="0" algn="just">
                        <a:lnSpc>
                          <a:spcPct val="150000"/>
                        </a:lnSpc>
                        <a:spcAft>
                          <a:spcPts val="800"/>
                        </a:spcAft>
                        <a:buNone/>
                      </a:pPr>
                      <a:r>
                        <a:rPr lang="en-IN" sz="1400" kern="100">
                          <a:effectLst/>
                        </a:rPr>
                        <a:t>[5]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tc>
                  <a:txBody>
                    <a:bodyPr/>
                    <a:lstStyle/>
                    <a:p>
                      <a:pPr marL="0" marR="0" algn="just">
                        <a:lnSpc>
                          <a:spcPct val="150000"/>
                        </a:lnSpc>
                        <a:spcAft>
                          <a:spcPts val="800"/>
                        </a:spcAft>
                        <a:buNone/>
                      </a:pPr>
                      <a:r>
                        <a:rPr lang="en-IN" sz="1400" kern="100">
                          <a:effectLst/>
                        </a:rPr>
                        <a:t>K. Rafalski, “Financial App Design: UX Strategies for High-Performance Mobile Trading,” netguru, 22 January 2026. [Online]. Available: https://www.netguru.com/blog/financial-app-design.</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extLst>
                  <a:ext uri="{0D108BD9-81ED-4DB2-BD59-A6C34878D82A}">
                    <a16:rowId xmlns:a16="http://schemas.microsoft.com/office/drawing/2014/main" val="2471578460"/>
                  </a:ext>
                </a:extLst>
              </a:tr>
              <a:tr h="678736">
                <a:tc>
                  <a:txBody>
                    <a:bodyPr/>
                    <a:lstStyle/>
                    <a:p>
                      <a:pPr marL="0" marR="0" algn="just">
                        <a:lnSpc>
                          <a:spcPct val="150000"/>
                        </a:lnSpc>
                        <a:spcAft>
                          <a:spcPts val="800"/>
                        </a:spcAft>
                        <a:buNone/>
                      </a:pPr>
                      <a:r>
                        <a:rPr lang="en-IN" sz="1400" kern="100">
                          <a:effectLst/>
                        </a:rPr>
                        <a:t>[6]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tc>
                  <a:txBody>
                    <a:bodyPr/>
                    <a:lstStyle/>
                    <a:p>
                      <a:pPr marL="0" marR="0" algn="just">
                        <a:lnSpc>
                          <a:spcPct val="150000"/>
                        </a:lnSpc>
                        <a:spcAft>
                          <a:spcPts val="800"/>
                        </a:spcAft>
                        <a:buNone/>
                      </a:pPr>
                      <a:r>
                        <a:rPr lang="en-IN" sz="1400" kern="100">
                          <a:effectLst/>
                        </a:rPr>
                        <a:t>M. A. Faudzi, Z. C. Cob, M. Ghazali, R. Omar and S. A. Sharudin, “User interface design in mobile learning applications: Developing and evaluating a questionnaire for measuring learners' extraneous cognitive load,” Heliyon, vol. 10, no. 18, pp. 1-20, 2024.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extLst>
                  <a:ext uri="{0D108BD9-81ED-4DB2-BD59-A6C34878D82A}">
                    <a16:rowId xmlns:a16="http://schemas.microsoft.com/office/drawing/2014/main" val="3518882471"/>
                  </a:ext>
                </a:extLst>
              </a:tr>
              <a:tr h="678736">
                <a:tc>
                  <a:txBody>
                    <a:bodyPr/>
                    <a:lstStyle/>
                    <a:p>
                      <a:pPr marL="0" marR="0" algn="just">
                        <a:lnSpc>
                          <a:spcPct val="150000"/>
                        </a:lnSpc>
                        <a:spcAft>
                          <a:spcPts val="800"/>
                        </a:spcAft>
                        <a:buNone/>
                      </a:pPr>
                      <a:r>
                        <a:rPr lang="en-IN" sz="1400" kern="100">
                          <a:effectLst/>
                        </a:rPr>
                        <a:t>[7]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tc>
                  <a:txBody>
                    <a:bodyPr/>
                    <a:lstStyle/>
                    <a:p>
                      <a:pPr marL="0" marR="0" algn="just">
                        <a:lnSpc>
                          <a:spcPct val="150000"/>
                        </a:lnSpc>
                        <a:spcAft>
                          <a:spcPts val="800"/>
                        </a:spcAft>
                        <a:buNone/>
                      </a:pPr>
                      <a:r>
                        <a:rPr lang="en-IN" sz="1400" kern="100" dirty="0">
                          <a:effectLst/>
                        </a:rPr>
                        <a:t>M. </a:t>
                      </a:r>
                      <a:r>
                        <a:rPr lang="en-IN" sz="1400" kern="100" dirty="0" err="1">
                          <a:effectLst/>
                        </a:rPr>
                        <a:t>Sandesara</a:t>
                      </a:r>
                      <a:r>
                        <a:rPr lang="en-IN" sz="1400" kern="100" dirty="0">
                          <a:effectLst/>
                        </a:rPr>
                        <a:t>, M. D. Alshehri and M. S. </a:t>
                      </a:r>
                      <a:r>
                        <a:rPr lang="en-IN" sz="1400" kern="100" dirty="0" err="1">
                          <a:effectLst/>
                        </a:rPr>
                        <a:t>Raboaca</a:t>
                      </a:r>
                      <a:r>
                        <a:rPr lang="en-IN" sz="1400" kern="100" dirty="0">
                          <a:effectLst/>
                        </a:rPr>
                        <a:t>, “Design and Experience of Mobile Applications: A Pilot Survey,” Mathematics, vol. 10, no. 14, pp. 1-21, 2022. </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extLst>
                  <a:ext uri="{0D108BD9-81ED-4DB2-BD59-A6C34878D82A}">
                    <a16:rowId xmlns:a16="http://schemas.microsoft.com/office/drawing/2014/main" val="595729903"/>
                  </a:ext>
                </a:extLst>
              </a:tr>
              <a:tr h="678736">
                <a:tc>
                  <a:txBody>
                    <a:bodyPr/>
                    <a:lstStyle/>
                    <a:p>
                      <a:pPr marL="0" marR="0" algn="just">
                        <a:lnSpc>
                          <a:spcPct val="150000"/>
                        </a:lnSpc>
                        <a:spcAft>
                          <a:spcPts val="800"/>
                        </a:spcAft>
                        <a:buNone/>
                      </a:pPr>
                      <a:r>
                        <a:rPr lang="en-IN" sz="1400" kern="100">
                          <a:effectLst/>
                        </a:rPr>
                        <a:t>[8]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tc>
                  <a:txBody>
                    <a:bodyPr/>
                    <a:lstStyle/>
                    <a:p>
                      <a:pPr marL="0" marR="0" algn="just">
                        <a:lnSpc>
                          <a:spcPct val="150000"/>
                        </a:lnSpc>
                        <a:spcAft>
                          <a:spcPts val="800"/>
                        </a:spcAft>
                        <a:buNone/>
                      </a:pPr>
                      <a:r>
                        <a:rPr lang="en-IN" sz="1400" kern="100" dirty="0">
                          <a:effectLst/>
                        </a:rPr>
                        <a:t>A. Alzahrani, R. </a:t>
                      </a:r>
                      <a:r>
                        <a:rPr lang="en-IN" sz="1400" kern="100" dirty="0" err="1">
                          <a:effectLst/>
                        </a:rPr>
                        <a:t>Alturki</a:t>
                      </a:r>
                      <a:r>
                        <a:rPr lang="en-IN" sz="1400" kern="100" dirty="0">
                          <a:effectLst/>
                        </a:rPr>
                        <a:t> and V. Gay, “The Evaluation of the Usability in Mobile Applications,” Proceedings of the 40th International Business Information Management Association (IBIMA), pp. 56-69, 2022. </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38" marR="5438" marT="5438" marB="5438"/>
                </a:tc>
                <a:extLst>
                  <a:ext uri="{0D108BD9-81ED-4DB2-BD59-A6C34878D82A}">
                    <a16:rowId xmlns:a16="http://schemas.microsoft.com/office/drawing/2014/main" val="1559063567"/>
                  </a:ext>
                </a:extLst>
              </a:tr>
            </a:tbl>
          </a:graphicData>
        </a:graphic>
      </p:graphicFrame>
    </p:spTree>
    <p:extLst>
      <p:ext uri="{BB962C8B-B14F-4D97-AF65-F5344CB8AC3E}">
        <p14:creationId xmlns:p14="http://schemas.microsoft.com/office/powerpoint/2010/main" val="22290076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114</TotalTime>
  <Words>1706</Words>
  <Application>Microsoft Office PowerPoint</Application>
  <PresentationFormat>Widescreen</PresentationFormat>
  <Paragraphs>101</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Bookman Old Style</vt:lpstr>
      <vt:lpstr>Calibri</vt:lpstr>
      <vt:lpstr>Rockwell</vt:lpstr>
      <vt:lpstr>Times New Roman</vt:lpstr>
      <vt:lpstr>Damask</vt:lpstr>
      <vt:lpstr>ICT710 – Interaction Design and Usability</vt:lpstr>
      <vt:lpstr>Introduction</vt:lpstr>
      <vt:lpstr>Design Process</vt:lpstr>
      <vt:lpstr>Design Process (Cont.)</vt:lpstr>
      <vt:lpstr>Design rationale </vt:lpstr>
      <vt:lpstr>Design Rationale (Cont.)</vt:lpstr>
      <vt:lpstr>User Interface Design</vt:lpstr>
      <vt:lpstr>User Interface Design (Cont.)</vt:lpstr>
      <vt:lpstr>Usability Evaluation</vt:lpstr>
      <vt:lpstr>Usability Evaluation (Cont.)</vt:lpstr>
      <vt:lpstr>Conclusion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Varshini KOYYALAMUDI</cp:lastModifiedBy>
  <cp:revision>2</cp:revision>
  <dcterms:created xsi:type="dcterms:W3CDTF">2026-05-17T01:39:20Z</dcterms:created>
  <dcterms:modified xsi:type="dcterms:W3CDTF">2026-05-26T08:42:04Z</dcterms:modified>
</cp:coreProperties>
</file>